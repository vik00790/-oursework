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62" r:id="rId10"/>
    <p:sldId id="275" r:id="rId11"/>
    <p:sldId id="265" r:id="rId12"/>
    <p:sldId id="266" r:id="rId13"/>
    <p:sldId id="276" r:id="rId14"/>
    <p:sldId id="277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57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21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06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273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01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39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143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13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16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3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2807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633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072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431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870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650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BF84C-592F-4D45-AD1F-B00A83719B2B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C1251-ED55-4B3D-8114-5B81EC1496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3974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A5B2C-9149-41D4-876B-81D62D412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6"/>
            <a:ext cx="7451766" cy="1022922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  <a:reflection blurRad="6350" stA="50000" endA="295" endPos="92000" dist="1016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Nexus Skins World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B700C5-F500-4557-9A99-9C22198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8260" y="3681351"/>
            <a:ext cx="7166758" cy="2986644"/>
          </a:xfrm>
        </p:spPr>
        <p:txBody>
          <a:bodyPr>
            <a:normAutofit lnSpcReduction="10000"/>
          </a:bodyPr>
          <a:lstStyle/>
          <a:p>
            <a:endParaRPr lang="ru-RU" b="0" i="0" dirty="0">
              <a:effectLst/>
              <a:latin typeface="system-ui"/>
            </a:endParaRPr>
          </a:p>
          <a:p>
            <a:r>
              <a:rPr lang="ru-RU" b="0" i="0" dirty="0">
                <a:solidFill>
                  <a:srgbClr val="00B0F0"/>
                </a:solidFill>
                <a:effectLst/>
                <a:latin typeface="system-ui"/>
              </a:rPr>
              <a:t>Представляю вашему вниманию проект </a:t>
            </a:r>
            <a:r>
              <a:rPr lang="ru-RU" b="1" i="0" dirty="0">
                <a:solidFill>
                  <a:srgbClr val="00B0F0"/>
                </a:solidFill>
                <a:effectLst/>
                <a:latin typeface="system-ui"/>
              </a:rPr>
              <a:t>'</a:t>
            </a:r>
            <a:r>
              <a:rPr lang="ru-RU" b="1" i="0" dirty="0" err="1">
                <a:solidFill>
                  <a:srgbClr val="00B0F0"/>
                </a:solidFill>
                <a:effectLst/>
                <a:latin typeface="system-ui"/>
              </a:rPr>
              <a:t>Nexus</a:t>
            </a:r>
            <a:r>
              <a:rPr lang="ru-RU" b="1" i="0" dirty="0">
                <a:solidFill>
                  <a:srgbClr val="00B0F0"/>
                </a:solidFill>
                <a:effectLst/>
                <a:latin typeface="system-ui"/>
              </a:rPr>
              <a:t> </a:t>
            </a:r>
            <a:r>
              <a:rPr lang="ru-RU" b="1" i="0" dirty="0" err="1">
                <a:solidFill>
                  <a:srgbClr val="00B0F0"/>
                </a:solidFill>
                <a:effectLst/>
                <a:latin typeface="system-ui"/>
              </a:rPr>
              <a:t>Skins</a:t>
            </a:r>
            <a:r>
              <a:rPr lang="ru-RU" b="1" i="0" dirty="0">
                <a:solidFill>
                  <a:srgbClr val="00B0F0"/>
                </a:solidFill>
                <a:effectLst/>
                <a:latin typeface="system-ui"/>
              </a:rPr>
              <a:t> World</a:t>
            </a:r>
            <a:r>
              <a:rPr lang="ru-RU" b="0" i="0" dirty="0">
                <a:solidFill>
                  <a:srgbClr val="00B0F0"/>
                </a:solidFill>
                <a:effectLst/>
                <a:latin typeface="system-ui"/>
              </a:rPr>
              <a:t>' — платформу для геймеров по обмену и покупке игровых скинов.</a:t>
            </a:r>
          </a:p>
          <a:p>
            <a:endParaRPr lang="ru-RU" dirty="0">
              <a:latin typeface="system-ui"/>
            </a:endParaRPr>
          </a:p>
          <a:p>
            <a:endParaRPr lang="ru-RU" dirty="0">
              <a:latin typeface="system-ui"/>
            </a:endParaRPr>
          </a:p>
          <a:p>
            <a:endParaRPr lang="ru-RU" dirty="0">
              <a:latin typeface="system-ui"/>
            </a:endParaRPr>
          </a:p>
          <a:p>
            <a:endParaRPr lang="ru-RU" dirty="0">
              <a:latin typeface="system-ui"/>
            </a:endParaRPr>
          </a:p>
          <a:p>
            <a:pPr algn="r"/>
            <a:r>
              <a:rPr lang="ru-RU" dirty="0">
                <a:solidFill>
                  <a:srgbClr val="00B0F0"/>
                </a:solidFill>
                <a:latin typeface="system-ui"/>
              </a:rPr>
              <a:t>Виктор</a:t>
            </a:r>
            <a:endParaRPr lang="ru-R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03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3F1B40-7E20-469C-AF54-3548D710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7965"/>
            <a:ext cx="10515600" cy="2870903"/>
          </a:xfrm>
        </p:spPr>
        <p:txBody>
          <a:bodyPr>
            <a:normAutofit/>
          </a:bodyPr>
          <a:lstStyle/>
          <a:p>
            <a:pPr algn="ctr"/>
            <a:r>
              <a:rPr lang="ru-RU" b="1" cap="non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П</a:t>
            </a:r>
            <a:r>
              <a:rPr lang="ru-RU" b="1" i="0" cap="non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редставлю итоговый проект — </a:t>
            </a:r>
            <a:br>
              <a:rPr lang="ru-RU" b="1" i="0" cap="non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</a:br>
            <a:r>
              <a:rPr lang="ru-RU" b="1" i="0" cap="none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веб-платформу, которая объединяет геймеров, предлагающих бесплатные и платные скины для популярных игр.</a:t>
            </a:r>
            <a:endParaRPr lang="ru-RU" b="1" cap="none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7A0F76-6ED1-4E6E-AF29-5DC4662D5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2292" y="4576475"/>
            <a:ext cx="7571508" cy="1707120"/>
          </a:xfrm>
        </p:spPr>
        <p:txBody>
          <a:bodyPr/>
          <a:lstStyle/>
          <a:p>
            <a:pPr marL="0" indent="0">
              <a:buNone/>
            </a:pPr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— это современный веб-сайт, где игроки могут общаться, находить, обмениваться и приобретать косметические предметы для игр в безопасной среде.</a:t>
            </a:r>
            <a:endParaRPr lang="ru-RU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77BBA-5318-4D2A-95C3-989ED6CEBEA5}"/>
              </a:ext>
            </a:extLst>
          </p:cNvPr>
          <p:cNvSpPr txBox="1"/>
          <p:nvPr/>
        </p:nvSpPr>
        <p:spPr>
          <a:xfrm>
            <a:off x="523502" y="4422362"/>
            <a:ext cx="3425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Nexus</a:t>
            </a:r>
            <a:r>
              <a:rPr lang="ru-RU" sz="32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 </a:t>
            </a:r>
            <a:r>
              <a:rPr lang="ru-RU" sz="3200" b="1" i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Skins</a:t>
            </a:r>
            <a:r>
              <a:rPr lang="ru-RU" sz="32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 World</a:t>
            </a:r>
            <a:endParaRPr lang="ru-RU" sz="32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565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15DF8AB0-9DB3-4ECA-81A1-832CC5B8BF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60" t="17956" r="36202" b="17955"/>
          <a:stretch/>
        </p:blipFill>
        <p:spPr bwMode="auto">
          <a:xfrm>
            <a:off x="4652158" y="2882274"/>
            <a:ext cx="1739735" cy="161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7D6017C-9BDF-40B4-A055-6890CE894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0478" y="4209802"/>
            <a:ext cx="5277592" cy="1997007"/>
          </a:xfrm>
        </p:spPr>
        <p:txBody>
          <a:bodyPr/>
          <a:lstStyle/>
          <a:p>
            <a:pPr marL="0" indent="0" algn="just">
              <a:buNone/>
            </a:pPr>
            <a:r>
              <a:rPr lang="ru-RU" sz="1800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Проект важен, потому что создаёт безопасное и доступное пространство для сообщества геймеров, где можно как бесплатно обмениваться предметами, так и совершать покупки по честным ценам.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47737-C53C-4DD4-8AA5-7776641675F2}"/>
              </a:ext>
            </a:extLst>
          </p:cNvPr>
          <p:cNvSpPr txBox="1"/>
          <p:nvPr/>
        </p:nvSpPr>
        <p:spPr>
          <a:xfrm>
            <a:off x="719941" y="1730368"/>
            <a:ext cx="4612080" cy="181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Многие геймеры сталкиваются с проблемой поиска надёжной площадки для торговли скинами: существующие решения часто имеют высокие комиссии, неудобный интерфейс или недостаточную защиту сделок.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0FEB823-8C5E-475F-B8F5-F02230BD1F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4" t="16977" r="5183" b="15940"/>
          <a:stretch/>
        </p:blipFill>
        <p:spPr bwMode="auto">
          <a:xfrm>
            <a:off x="7451766" y="1730368"/>
            <a:ext cx="1894115" cy="161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3C0A8D07-2E9A-46F4-A198-9C28EED42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1" t="20870" r="63948" b="17930"/>
          <a:stretch/>
        </p:blipFill>
        <p:spPr bwMode="auto">
          <a:xfrm>
            <a:off x="1775361" y="4209802"/>
            <a:ext cx="1781298" cy="149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22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E8C5EB-B73B-44C6-9299-3B9A963BD42E}"/>
              </a:ext>
            </a:extLst>
          </p:cNvPr>
          <p:cNvSpPr txBox="1"/>
          <p:nvPr/>
        </p:nvSpPr>
        <p:spPr>
          <a:xfrm>
            <a:off x="4946074" y="2762105"/>
            <a:ext cx="61757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3200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— создать функциональную и удобную платформу для торговли игровыми скинами.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D89F1-26F9-4FCD-A7E2-647DAB08260E}"/>
              </a:ext>
            </a:extLst>
          </p:cNvPr>
          <p:cNvSpPr txBox="1"/>
          <p:nvPr/>
        </p:nvSpPr>
        <p:spPr>
          <a:xfrm>
            <a:off x="4553443" y="2026135"/>
            <a:ext cx="1702626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system-ui"/>
              </a:rPr>
              <a:t>Задачи проекта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A2F84-0161-4237-BA81-1D5634461DA7}"/>
              </a:ext>
            </a:extLst>
          </p:cNvPr>
          <p:cNvSpPr txBox="1"/>
          <p:nvPr/>
        </p:nvSpPr>
        <p:spPr>
          <a:xfrm>
            <a:off x="976002" y="2801791"/>
            <a:ext cx="3291198" cy="6463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chemeClr val="bg1"/>
                </a:solidFill>
                <a:effectLst/>
                <a:latin typeface="system-u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ru-RU" dirty="0"/>
              <a:t>Разработка интуитивного пользовательского интерфейса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608B31-E413-463F-BBC1-0B9CB79BDCF9}"/>
              </a:ext>
            </a:extLst>
          </p:cNvPr>
          <p:cNvSpPr txBox="1"/>
          <p:nvPr/>
        </p:nvSpPr>
        <p:spPr>
          <a:xfrm>
            <a:off x="1444458" y="4107813"/>
            <a:ext cx="2354285" cy="6463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chemeClr val="bg1"/>
                </a:solidFill>
                <a:effectLst/>
                <a:latin typeface="system-u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ru-RU" dirty="0"/>
              <a:t>Реализация системы безопасных сделок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592BC-AA2B-4B56-8EAE-25D6F155A9A6}"/>
              </a:ext>
            </a:extLst>
          </p:cNvPr>
          <p:cNvSpPr txBox="1"/>
          <p:nvPr/>
        </p:nvSpPr>
        <p:spPr>
          <a:xfrm>
            <a:off x="7808644" y="4107814"/>
            <a:ext cx="2536123" cy="6463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chemeClr val="bg1"/>
                </a:solidFill>
                <a:effectLst/>
                <a:latin typeface="system-u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ru-RU" dirty="0"/>
              <a:t>Интеграция каталога скинов с фильтрацией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3579F7-D390-4C62-8875-1E88F79F8923}"/>
              </a:ext>
            </a:extLst>
          </p:cNvPr>
          <p:cNvSpPr txBox="1"/>
          <p:nvPr/>
        </p:nvSpPr>
        <p:spPr>
          <a:xfrm>
            <a:off x="7447807" y="2801792"/>
            <a:ext cx="3257798" cy="6463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chemeClr val="bg1"/>
                </a:solidFill>
                <a:effectLst/>
                <a:latin typeface="system-u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ru-RU" dirty="0"/>
              <a:t>Создание системы отзывов и рейтингов продавцов</a:t>
            </a:r>
          </a:p>
        </p:txBody>
      </p: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26B57087-18DA-4AD8-9373-5EA61A8AFB16}"/>
              </a:ext>
            </a:extLst>
          </p:cNvPr>
          <p:cNvCxnSpPr>
            <a:endCxn id="9" idx="3"/>
          </p:cNvCxnSpPr>
          <p:nvPr/>
        </p:nvCxnSpPr>
        <p:spPr>
          <a:xfrm rot="5400000">
            <a:off x="4241892" y="2420776"/>
            <a:ext cx="729490" cy="6788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13779481-756C-4F98-BAB7-B45B0E076C4F}"/>
              </a:ext>
            </a:extLst>
          </p:cNvPr>
          <p:cNvCxnSpPr>
            <a:cxnSpLocks/>
          </p:cNvCxnSpPr>
          <p:nvPr/>
        </p:nvCxnSpPr>
        <p:spPr>
          <a:xfrm rot="5400000">
            <a:off x="3489448" y="2704760"/>
            <a:ext cx="2067071" cy="1448480"/>
          </a:xfrm>
          <a:prstGeom prst="bentConnector3">
            <a:avLst>
              <a:gd name="adj1" fmla="val 999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7EC838FC-1763-4E9A-A70F-05E76D1AAA1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568912" y="2395464"/>
            <a:ext cx="2239732" cy="2035516"/>
          </a:xfrm>
          <a:prstGeom prst="bentConnector3">
            <a:avLst>
              <a:gd name="adj1" fmla="val -1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1C117F67-3C0B-4369-8D43-D1E0B9C1E276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854535" y="2395465"/>
            <a:ext cx="1593272" cy="729493"/>
          </a:xfrm>
          <a:prstGeom prst="bentConnector3">
            <a:avLst>
              <a:gd name="adj1" fmla="val -3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6DB2235-0393-49AC-9C61-7BAA320B349C}"/>
              </a:ext>
            </a:extLst>
          </p:cNvPr>
          <p:cNvSpPr txBox="1"/>
          <p:nvPr/>
        </p:nvSpPr>
        <p:spPr>
          <a:xfrm>
            <a:off x="270907" y="2538154"/>
            <a:ext cx="48414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Основная цель </a:t>
            </a:r>
          </a:p>
        </p:txBody>
      </p:sp>
    </p:spTree>
    <p:extLst>
      <p:ext uri="{BB962C8B-B14F-4D97-AF65-F5344CB8AC3E}">
        <p14:creationId xmlns:p14="http://schemas.microsoft.com/office/powerpoint/2010/main" val="41395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 animBg="1"/>
      <p:bldP spid="9" grpId="0" animBg="1"/>
      <p:bldP spid="11" grpId="0" animBg="1"/>
      <p:bldP spid="13" grpId="0" animBg="1"/>
      <p:bldP spid="15" grpId="0" animBg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4255187-1F2F-4370-8C1F-FC975FE69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9840" y="5386457"/>
            <a:ext cx="3674335" cy="93126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algn="just">
              <a:buNone/>
            </a:pPr>
            <a:r>
              <a:rPr lang="en-US" dirty="0" err="1">
                <a:latin typeface="system-ui"/>
              </a:rPr>
              <a:t>Gamebanana</a:t>
            </a:r>
            <a:r>
              <a:rPr lang="en-US" dirty="0">
                <a:latin typeface="system-ui"/>
              </a:rPr>
              <a:t> </a:t>
            </a:r>
            <a:r>
              <a:rPr lang="ru-RU" dirty="0">
                <a:latin typeface="system-ui"/>
              </a:rPr>
              <a:t>основан только на бесплатных скинах для обмена игроками</a:t>
            </a:r>
          </a:p>
          <a:p>
            <a:pPr marL="0" indent="0" algn="just">
              <a:buNone/>
            </a:pPr>
            <a:endParaRPr lang="ru-RU" dirty="0">
              <a:latin typeface="system-ui"/>
            </a:endParaRPr>
          </a:p>
          <a:p>
            <a:pPr marL="0" indent="0" algn="just">
              <a:buNone/>
            </a:pPr>
            <a:endParaRPr lang="ru-RU" dirty="0">
              <a:latin typeface="system-ui"/>
            </a:endParaRP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10B52280-900C-4D37-847D-4AF0AE7AD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426" y="2569929"/>
            <a:ext cx="1007361" cy="100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83ADBFDF-48C4-48F0-8C85-FF483619C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270" y="2569930"/>
            <a:ext cx="1006429" cy="100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418F2B6E-4B18-4D72-88D0-60D55A429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185" y="2569929"/>
            <a:ext cx="1006429" cy="100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00B0D2AB-3D8B-44BE-907E-5C59D00E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327" y="4357505"/>
            <a:ext cx="1007362" cy="100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916ABE-8D8C-4AE1-A96E-92DB1F556BA7}"/>
              </a:ext>
            </a:extLst>
          </p:cNvPr>
          <p:cNvSpPr txBox="1"/>
          <p:nvPr/>
        </p:nvSpPr>
        <p:spPr>
          <a:xfrm>
            <a:off x="2729060" y="1005908"/>
            <a:ext cx="6096000" cy="1274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0" i="0">
                <a:effectLst/>
                <a:latin typeface="system-ui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ru-RU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На рынке существуют такие платформы, как </a:t>
            </a:r>
            <a:r>
              <a:rPr lang="en-US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Gamebanana</a:t>
            </a:r>
            <a:r>
              <a:rPr lang="ru-RU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,</a:t>
            </a: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ru-RU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Steam</a:t>
            </a:r>
            <a:r>
              <a:rPr lang="ru-RU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Market, </a:t>
            </a:r>
            <a:r>
              <a:rPr lang="ru-RU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Skinport</a:t>
            </a:r>
            <a:r>
              <a:rPr lang="ru-RU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и </a:t>
            </a:r>
            <a:r>
              <a:rPr lang="ru-RU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SkinBaron</a:t>
            </a:r>
            <a:r>
              <a:rPr lang="ru-RU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62882E-BEB7-49D6-B435-6D8296CC028C}"/>
              </a:ext>
            </a:extLst>
          </p:cNvPr>
          <p:cNvSpPr txBox="1"/>
          <p:nvPr/>
        </p:nvSpPr>
        <p:spPr>
          <a:xfrm>
            <a:off x="783528" y="3793074"/>
            <a:ext cx="3891064" cy="1201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0" i="0">
                <a:effectLst/>
                <a:latin typeface="system-ui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ru-RU" dirty="0" err="1"/>
              <a:t>Steam</a:t>
            </a:r>
            <a:r>
              <a:rPr lang="ru-RU" dirty="0"/>
              <a:t> Market удобен, но имеет высокие комиссии и ограничен экосистемой </a:t>
            </a:r>
            <a:r>
              <a:rPr lang="ru-RU" dirty="0" err="1"/>
              <a:t>Steam</a:t>
            </a:r>
            <a:r>
              <a:rPr lang="ru-RU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F06366-50CA-4874-B2C7-16FB6DA7C6AB}"/>
              </a:ext>
            </a:extLst>
          </p:cNvPr>
          <p:cNvSpPr txBox="1"/>
          <p:nvPr/>
        </p:nvSpPr>
        <p:spPr>
          <a:xfrm>
            <a:off x="6901322" y="3793074"/>
            <a:ext cx="4507150" cy="13589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en-US"/>
            </a:defPPr>
            <a:lvl1pPr indent="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0" i="0">
                <a:effectLst/>
                <a:latin typeface="system-ui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ru-RU" dirty="0" err="1"/>
              <a:t>Skinport</a:t>
            </a:r>
            <a:r>
              <a:rPr lang="ru-RU" dirty="0"/>
              <a:t> и </a:t>
            </a:r>
            <a:r>
              <a:rPr lang="ru-RU" dirty="0" err="1"/>
              <a:t>SkinBaron</a:t>
            </a:r>
            <a:r>
              <a:rPr lang="ru-RU" dirty="0"/>
              <a:t> предлагают низкие комиссии, но имеют сложный интерфейс и недостаточную поддержку бесплатного обмена.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95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39ABA4-F74C-4BB1-A8F4-0472DCCBC922}"/>
              </a:ext>
            </a:extLst>
          </p:cNvPr>
          <p:cNvSpPr txBox="1"/>
          <p:nvPr/>
        </p:nvSpPr>
        <p:spPr>
          <a:xfrm>
            <a:off x="877922" y="2290509"/>
            <a:ext cx="5460460" cy="131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ru-RU" dirty="0" err="1"/>
              <a:t>Nexus</a:t>
            </a:r>
            <a:r>
              <a:rPr lang="ru-RU" dirty="0"/>
              <a:t> </a:t>
            </a:r>
            <a:r>
              <a:rPr lang="ru-RU" dirty="0" err="1"/>
              <a:t>Skins</a:t>
            </a:r>
            <a:r>
              <a:rPr lang="ru-RU" dirty="0"/>
              <a:t> World отличается сочетанием бесплатного обмена и платных сделок в одной платформе.</a:t>
            </a:r>
          </a:p>
        </p:txBody>
      </p:sp>
      <p:pic>
        <p:nvPicPr>
          <p:cNvPr id="3094" name="Picture 22">
            <a:extLst>
              <a:ext uri="{FF2B5EF4-FFF2-40B4-BE49-F238E27FC236}">
                <a16:creationId xmlns:a16="http://schemas.microsoft.com/office/drawing/2014/main" id="{EB7F5329-71F2-4A10-92E7-295289D74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459" y="2795980"/>
            <a:ext cx="6525484" cy="363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92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2A60659-347E-493C-9388-8895804BE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1900" y="1325284"/>
            <a:ext cx="4860100" cy="224849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Уникальная</a:t>
            </a:r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 особенность — интегрированная система гарантированных сделок с возможностью отслеживания статуса обмена в реальном времени.</a:t>
            </a:r>
          </a:p>
          <a:p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546A3AE-3695-463D-B874-3EBA382D6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" y="2680700"/>
            <a:ext cx="6572806" cy="366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53098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4ACF0F-6B91-4321-86E1-6F9AA03B559C}"/>
              </a:ext>
            </a:extLst>
          </p:cNvPr>
          <p:cNvSpPr txBox="1"/>
          <p:nvPr/>
        </p:nvSpPr>
        <p:spPr>
          <a:xfrm>
            <a:off x="1341120" y="2117872"/>
            <a:ext cx="6096000" cy="131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ru-RU" dirty="0"/>
              <a:t>Наш сайт предлагает минимальные комиссии, упрощённый процесс регистрации, расширенную систему фильтрации скинов по играм и цене.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BC237A-0AB1-49C7-9045-84A90892B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059" y="988061"/>
            <a:ext cx="2709050" cy="516889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D26406-51DE-4A41-92F8-0C60C3D60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611" y="3518076"/>
            <a:ext cx="3098800" cy="273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6457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49B0A4-044B-4C16-8BF7-18DB8D4045D9}"/>
              </a:ext>
            </a:extLst>
          </p:cNvPr>
          <p:cNvSpPr txBox="1"/>
          <p:nvPr/>
        </p:nvSpPr>
        <p:spPr>
          <a:xfrm>
            <a:off x="5745480" y="455005"/>
            <a:ext cx="4991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Основной стек технологий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028A20-64CD-4C23-966D-6438BBB7CB74}"/>
              </a:ext>
            </a:extLst>
          </p:cNvPr>
          <p:cNvSpPr txBox="1"/>
          <p:nvPr/>
        </p:nvSpPr>
        <p:spPr>
          <a:xfrm>
            <a:off x="502918" y="1575346"/>
            <a:ext cx="2872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Язык программирования</a:t>
            </a:r>
            <a:endParaRPr lang="ru-RU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6052B-AC60-4A19-B670-67EC5C20F27A}"/>
              </a:ext>
            </a:extLst>
          </p:cNvPr>
          <p:cNvSpPr txBox="1"/>
          <p:nvPr/>
        </p:nvSpPr>
        <p:spPr>
          <a:xfrm>
            <a:off x="3916680" y="1575346"/>
            <a:ext cx="93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F7F8FC"/>
                </a:solidFill>
                <a:effectLst/>
                <a:latin typeface="system-ui"/>
              </a:defRPr>
            </a:lvl1pPr>
          </a:lstStyle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Python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AC605B-5A65-4249-90AD-3DD2DFD830C7}"/>
              </a:ext>
            </a:extLst>
          </p:cNvPr>
          <p:cNvSpPr txBox="1"/>
          <p:nvPr/>
        </p:nvSpPr>
        <p:spPr>
          <a:xfrm>
            <a:off x="502918" y="2007217"/>
            <a:ext cx="271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Веб-фреймворк</a:t>
            </a:r>
            <a:endParaRPr lang="ru-RU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4ABD3F-E8CE-43CF-97CA-3F36C4BD7A54}"/>
              </a:ext>
            </a:extLst>
          </p:cNvPr>
          <p:cNvSpPr txBox="1"/>
          <p:nvPr/>
        </p:nvSpPr>
        <p:spPr>
          <a:xfrm>
            <a:off x="3916680" y="2007217"/>
            <a:ext cx="87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ystem-ui"/>
              </a:rPr>
              <a:t>Django</a:t>
            </a:r>
            <a:endParaRPr lang="ru-RU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D2E862-4F12-4D1D-A7EC-BC3EA81009AB}"/>
              </a:ext>
            </a:extLst>
          </p:cNvPr>
          <p:cNvSpPr txBox="1"/>
          <p:nvPr/>
        </p:nvSpPr>
        <p:spPr>
          <a:xfrm>
            <a:off x="502918" y="2437446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Хранение данных</a:t>
            </a:r>
            <a:endParaRPr lang="ru-RU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DA9B85-3393-47DC-AE00-BC86AB38AD10}"/>
              </a:ext>
            </a:extLst>
          </p:cNvPr>
          <p:cNvSpPr txBox="1"/>
          <p:nvPr/>
        </p:nvSpPr>
        <p:spPr>
          <a:xfrm>
            <a:off x="3916680" y="2436065"/>
            <a:ext cx="87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ystem-ui"/>
              </a:rPr>
              <a:t>SQLite</a:t>
            </a:r>
            <a:endParaRPr lang="ru-RU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25CCF4-C067-448A-AF3B-7184E870B79E}"/>
              </a:ext>
            </a:extLst>
          </p:cNvPr>
          <p:cNvSpPr txBox="1"/>
          <p:nvPr/>
        </p:nvSpPr>
        <p:spPr>
          <a:xfrm>
            <a:off x="502918" y="2870923"/>
            <a:ext cx="2594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Структура веб-страниц</a:t>
            </a:r>
            <a:endParaRPr lang="ru-RU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4424A6-5DFA-47AB-8043-60423F0594A1}"/>
              </a:ext>
            </a:extLst>
          </p:cNvPr>
          <p:cNvSpPr txBox="1"/>
          <p:nvPr/>
        </p:nvSpPr>
        <p:spPr>
          <a:xfrm>
            <a:off x="3916680" y="2870923"/>
            <a:ext cx="87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ystem-ui"/>
              </a:rPr>
              <a:t>HTML</a:t>
            </a:r>
            <a:endParaRPr lang="ru-RU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E4A208-F548-45AD-A71C-BEFF7D97D00F}"/>
              </a:ext>
            </a:extLst>
          </p:cNvPr>
          <p:cNvSpPr txBox="1"/>
          <p:nvPr/>
        </p:nvSpPr>
        <p:spPr>
          <a:xfrm>
            <a:off x="3916680" y="3304433"/>
            <a:ext cx="586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ystem-ui"/>
              </a:rPr>
              <a:t>CSS</a:t>
            </a:r>
            <a:endParaRPr lang="ru-RU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A5E474-3457-4C8E-9FCB-9A7FC2E073B6}"/>
              </a:ext>
            </a:extLst>
          </p:cNvPr>
          <p:cNvSpPr txBox="1"/>
          <p:nvPr/>
        </p:nvSpPr>
        <p:spPr>
          <a:xfrm>
            <a:off x="495296" y="3307525"/>
            <a:ext cx="271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Стилизация, анимации</a:t>
            </a:r>
            <a:endParaRPr lang="ru-RU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7C82CE-73C8-470A-BC34-6819D7547AFD}"/>
              </a:ext>
            </a:extLst>
          </p:cNvPr>
          <p:cNvSpPr txBox="1"/>
          <p:nvPr/>
        </p:nvSpPr>
        <p:spPr>
          <a:xfrm>
            <a:off x="495296" y="3739484"/>
            <a:ext cx="3192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system-ui"/>
              </a:rPr>
              <a:t>Клиентская интерактивность</a:t>
            </a:r>
            <a:endParaRPr lang="ru-RU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75F7ED-2320-4DEA-B209-1FA40EE33503}"/>
              </a:ext>
            </a:extLst>
          </p:cNvPr>
          <p:cNvSpPr txBox="1"/>
          <p:nvPr/>
        </p:nvSpPr>
        <p:spPr>
          <a:xfrm>
            <a:off x="3916680" y="3739500"/>
            <a:ext cx="119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ystem-ui"/>
              </a:rPr>
              <a:t>JavaScript</a:t>
            </a:r>
            <a:endParaRPr lang="ru-RU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42997F-1C9F-4EC1-9EAE-53493EDFE6FF}"/>
              </a:ext>
            </a:extLst>
          </p:cNvPr>
          <p:cNvSpPr txBox="1"/>
          <p:nvPr/>
        </p:nvSpPr>
        <p:spPr>
          <a:xfrm>
            <a:off x="8439387" y="1582700"/>
            <a:ext cx="1435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F7F8FC"/>
                </a:solidFill>
                <a:effectLst/>
                <a:latin typeface="system-ui"/>
              </a:defRPr>
            </a:lvl1pPr>
          </a:lstStyle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-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библиотеки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54EC96-EEEB-413C-B258-61C389CA373C}"/>
              </a:ext>
            </a:extLst>
          </p:cNvPr>
          <p:cNvSpPr txBox="1"/>
          <p:nvPr/>
        </p:nvSpPr>
        <p:spPr>
          <a:xfrm>
            <a:off x="9556432" y="1946357"/>
            <a:ext cx="786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ln w="9525">
                  <a:solidFill>
                    <a:schemeClr val="accent6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defRPr>
            </a:lvl1pPr>
          </a:lstStyle>
          <a:p>
            <a:r>
              <a:rPr lang="en-US" dirty="0"/>
              <a:t>Pillow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4A6D06-25C8-4751-BDD4-8569D54A13DF}"/>
              </a:ext>
            </a:extLst>
          </p:cNvPr>
          <p:cNvSpPr txBox="1"/>
          <p:nvPr/>
        </p:nvSpPr>
        <p:spPr>
          <a:xfrm>
            <a:off x="6642739" y="1940069"/>
            <a:ext cx="1045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F7F8FC"/>
                </a:solidFill>
                <a:effectLst/>
                <a:latin typeface="system-ui"/>
              </a:defRPr>
            </a:lvl1pPr>
          </a:lstStyle>
          <a:p>
            <a:r>
              <a:rPr lang="en-US" b="1" dirty="0">
                <a:ln w="9525">
                  <a:solidFill>
                    <a:schemeClr val="accent6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schedule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98A62F-A728-4481-AC50-9E60A67CF1BB}"/>
              </a:ext>
            </a:extLst>
          </p:cNvPr>
          <p:cNvSpPr txBox="1"/>
          <p:nvPr/>
        </p:nvSpPr>
        <p:spPr>
          <a:xfrm>
            <a:off x="6607495" y="4202940"/>
            <a:ext cx="1116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ln w="9525">
                  <a:solidFill>
                    <a:schemeClr val="accent6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defRPr>
            </a:lvl1pPr>
          </a:lstStyle>
          <a:p>
            <a:r>
              <a:rPr lang="en-US" dirty="0"/>
              <a:t>threading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FDF426-F0A9-4993-9AC8-230F5A32D18D}"/>
              </a:ext>
            </a:extLst>
          </p:cNvPr>
          <p:cNvSpPr txBox="1"/>
          <p:nvPr/>
        </p:nvSpPr>
        <p:spPr>
          <a:xfrm>
            <a:off x="9480232" y="4295035"/>
            <a:ext cx="93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ln w="9525">
                  <a:solidFill>
                    <a:schemeClr val="accent6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defRPr>
            </a:lvl1pPr>
          </a:lstStyle>
          <a:p>
            <a:r>
              <a:rPr lang="en-US" dirty="0"/>
              <a:t>logging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A6206F-584A-40B3-B873-9EAEB0197531}"/>
              </a:ext>
            </a:extLst>
          </p:cNvPr>
          <p:cNvSpPr txBox="1"/>
          <p:nvPr/>
        </p:nvSpPr>
        <p:spPr>
          <a:xfrm>
            <a:off x="8841104" y="2431036"/>
            <a:ext cx="2217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ystem-ui"/>
              </a:defRPr>
            </a:lvl1pPr>
          </a:lstStyle>
          <a:p>
            <a:r>
              <a:rPr lang="ru-RU" dirty="0"/>
              <a:t>Обработка и масштабирование загружаемых изображений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7CA860-F7C1-470A-9974-33A1DA31D1F7}"/>
              </a:ext>
            </a:extLst>
          </p:cNvPr>
          <p:cNvSpPr txBox="1"/>
          <p:nvPr/>
        </p:nvSpPr>
        <p:spPr>
          <a:xfrm>
            <a:off x="5962646" y="2368038"/>
            <a:ext cx="24174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F7F8FC"/>
                </a:solidFill>
                <a:effectLst/>
                <a:latin typeface="system-ui"/>
              </a:defRPr>
            </a:lvl1pPr>
          </a:lstStyle>
          <a:p>
            <a:pPr algn="ctr"/>
            <a:r>
              <a:rPr lang="ru-RU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Планирование автоматических задач (рассылка уведомлений)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829DE1-BDC2-4B7D-A71D-B39958F8D9C1}"/>
              </a:ext>
            </a:extLst>
          </p:cNvPr>
          <p:cNvSpPr txBox="1"/>
          <p:nvPr/>
        </p:nvSpPr>
        <p:spPr>
          <a:xfrm>
            <a:off x="6258882" y="4769249"/>
            <a:ext cx="18135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ystem-ui"/>
              </a:defRPr>
            </a:lvl1pPr>
          </a:lstStyle>
          <a:p>
            <a:r>
              <a:rPr lang="ru-RU" dirty="0"/>
              <a:t>Запуск фоновых процессов (планировщик)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F41AF7-BC00-4531-97B9-8183A35E6204}"/>
              </a:ext>
            </a:extLst>
          </p:cNvPr>
          <p:cNvSpPr txBox="1"/>
          <p:nvPr/>
        </p:nvSpPr>
        <p:spPr>
          <a:xfrm>
            <a:off x="8993504" y="4769249"/>
            <a:ext cx="1912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ystem-ui"/>
              </a:defRPr>
            </a:lvl1pPr>
          </a:lstStyle>
          <a:p>
            <a:r>
              <a:rPr lang="ru-RU" dirty="0"/>
              <a:t>Логирование событий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74871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1.48148E-6 L 0.31406 -1.48148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03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3" grpId="1"/>
      <p:bldP spid="15" grpId="0"/>
      <p:bldP spid="17" grpId="0"/>
      <p:bldP spid="17" grpId="1"/>
      <p:bldP spid="19" grpId="0"/>
      <p:bldP spid="21" grpId="0"/>
      <p:bldP spid="21" grpId="1"/>
      <p:bldP spid="23" grpId="0"/>
      <p:bldP spid="25" grpId="0"/>
      <p:bldP spid="25" grpId="1"/>
      <p:bldP spid="27" grpId="0"/>
      <p:bldP spid="27" grpId="1"/>
      <p:bldP spid="29" grpId="0"/>
      <p:bldP spid="31" grpId="0"/>
      <p:bldP spid="33" grpId="0"/>
      <p:bldP spid="33" grpId="1"/>
      <p:bldP spid="35" grpId="0"/>
      <p:bldP spid="42" grpId="0"/>
      <p:bldP spid="44" grpId="0"/>
      <p:bldP spid="46" grpId="0"/>
      <p:bldP spid="48" grpId="0"/>
      <p:bldP spid="50" grpId="0"/>
      <p:bldP spid="52" grpId="0"/>
      <p:bldP spid="54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8B1BC994-CDD8-4BAA-AAEF-3C6C227BD5ED}"/>
              </a:ext>
            </a:extLst>
          </p:cNvPr>
          <p:cNvSpPr/>
          <p:nvPr/>
        </p:nvSpPr>
        <p:spPr>
          <a:xfrm>
            <a:off x="1873420" y="2825303"/>
            <a:ext cx="409575" cy="384037"/>
          </a:xfrm>
          <a:prstGeom prst="down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ED12A5C0-7D87-4E06-8215-2E4EC2677FB0}"/>
              </a:ext>
            </a:extLst>
          </p:cNvPr>
          <p:cNvSpPr/>
          <p:nvPr/>
        </p:nvSpPr>
        <p:spPr>
          <a:xfrm>
            <a:off x="3561710" y="2550255"/>
            <a:ext cx="409575" cy="659085"/>
          </a:xfrm>
          <a:prstGeom prst="down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: вниз 20">
            <a:extLst>
              <a:ext uri="{FF2B5EF4-FFF2-40B4-BE49-F238E27FC236}">
                <a16:creationId xmlns:a16="http://schemas.microsoft.com/office/drawing/2014/main" id="{5603C655-BB12-4042-9A30-EC0F639A3D18}"/>
              </a:ext>
            </a:extLst>
          </p:cNvPr>
          <p:cNvSpPr/>
          <p:nvPr/>
        </p:nvSpPr>
        <p:spPr>
          <a:xfrm>
            <a:off x="1873419" y="4001820"/>
            <a:ext cx="409575" cy="384037"/>
          </a:xfrm>
          <a:prstGeom prst="down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: вниз 21">
            <a:extLst>
              <a:ext uri="{FF2B5EF4-FFF2-40B4-BE49-F238E27FC236}">
                <a16:creationId xmlns:a16="http://schemas.microsoft.com/office/drawing/2014/main" id="{303744D8-C75E-48FA-B90E-26400840F0A1}"/>
              </a:ext>
            </a:extLst>
          </p:cNvPr>
          <p:cNvSpPr/>
          <p:nvPr/>
        </p:nvSpPr>
        <p:spPr>
          <a:xfrm>
            <a:off x="3561710" y="4001819"/>
            <a:ext cx="409575" cy="384037"/>
          </a:xfrm>
          <a:prstGeom prst="down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90ED5-3F4B-4CF2-8CC7-CF8825F491ED}"/>
              </a:ext>
            </a:extLst>
          </p:cNvPr>
          <p:cNvSpPr txBox="1"/>
          <p:nvPr/>
        </p:nvSpPr>
        <p:spPr>
          <a:xfrm>
            <a:off x="6365589" y="797302"/>
            <a:ext cx="487391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Сoursework</a:t>
            </a:r>
            <a:r>
              <a:rPr lang="ru-RU" sz="800" dirty="0"/>
              <a:t>/</a:t>
            </a:r>
          </a:p>
          <a:p>
            <a:r>
              <a:rPr lang="ru-RU" sz="800" dirty="0"/>
              <a:t>│</a:t>
            </a:r>
          </a:p>
          <a:p>
            <a:r>
              <a:rPr lang="ru-RU" sz="800" dirty="0"/>
              <a:t>├── manage.py                          # Точка входа </a:t>
            </a:r>
            <a:r>
              <a:rPr lang="ru-RU" sz="800" dirty="0" err="1"/>
              <a:t>Django</a:t>
            </a:r>
            <a:endParaRPr lang="ru-RU" sz="800" dirty="0"/>
          </a:p>
          <a:p>
            <a:r>
              <a:rPr lang="ru-RU" sz="800" dirty="0"/>
              <a:t>├── db.sqlite3                              # База данных </a:t>
            </a:r>
            <a:r>
              <a:rPr lang="ru-RU" sz="800" dirty="0" err="1"/>
              <a:t>SQLite</a:t>
            </a:r>
            <a:endParaRPr lang="ru-RU" sz="800" dirty="0"/>
          </a:p>
          <a:p>
            <a:r>
              <a:rPr lang="ru-RU" sz="800" dirty="0"/>
              <a:t>├── requirements.txt                   # Зависимости проекта</a:t>
            </a:r>
          </a:p>
          <a:p>
            <a:r>
              <a:rPr lang="ru-RU" sz="800" dirty="0"/>
              <a:t>│</a:t>
            </a:r>
          </a:p>
          <a:p>
            <a:r>
              <a:rPr lang="ru-RU" sz="800" dirty="0"/>
              <a:t>├── </a:t>
            </a:r>
            <a:r>
              <a:rPr lang="ru-RU" sz="800" dirty="0" err="1"/>
              <a:t>myproject</a:t>
            </a:r>
            <a:r>
              <a:rPr lang="ru-RU" sz="800" dirty="0"/>
              <a:t>/                            # Конфигурация проекта</a:t>
            </a:r>
          </a:p>
          <a:p>
            <a:r>
              <a:rPr lang="ru-RU" sz="800" dirty="0"/>
              <a:t>│   ├── settings.py                        # Настройки </a:t>
            </a:r>
            <a:r>
              <a:rPr lang="ru-RU" sz="800" dirty="0" err="1"/>
              <a:t>Django</a:t>
            </a:r>
            <a:endParaRPr lang="ru-RU" sz="800" dirty="0"/>
          </a:p>
          <a:p>
            <a:r>
              <a:rPr lang="ru-RU" sz="800" dirty="0"/>
              <a:t>│   ├── urls.py                               # Корневой маршрутизатор</a:t>
            </a:r>
          </a:p>
          <a:p>
            <a:r>
              <a:rPr lang="ru-RU" sz="800" dirty="0"/>
              <a:t>│   ├── wsgi.py                             # WSGI-интерфейс</a:t>
            </a:r>
          </a:p>
          <a:p>
            <a:r>
              <a:rPr lang="ru-RU" sz="800" dirty="0"/>
              <a:t>│   └── asgi.py                             # ASGI-интерфейс</a:t>
            </a:r>
          </a:p>
          <a:p>
            <a:r>
              <a:rPr lang="ru-RU" sz="800" dirty="0"/>
              <a:t>│</a:t>
            </a:r>
          </a:p>
          <a:p>
            <a:r>
              <a:rPr lang="ru-RU" sz="800" dirty="0"/>
              <a:t>└── </a:t>
            </a:r>
            <a:r>
              <a:rPr lang="ru-RU" sz="800" dirty="0" err="1"/>
              <a:t>marketplace</a:t>
            </a:r>
            <a:r>
              <a:rPr lang="ru-RU" sz="800" dirty="0"/>
              <a:t>/                       # Основное приложение</a:t>
            </a:r>
          </a:p>
          <a:p>
            <a:r>
              <a:rPr lang="ru-RU" sz="800" dirty="0"/>
              <a:t>    ├── __init__.py</a:t>
            </a:r>
          </a:p>
          <a:p>
            <a:r>
              <a:rPr lang="ru-RU" sz="800" dirty="0"/>
              <a:t>    ├── apps.py                             # Конфигурация приложения + автозапуск планировщика</a:t>
            </a:r>
          </a:p>
          <a:p>
            <a:r>
              <a:rPr lang="ru-RU" sz="800" dirty="0"/>
              <a:t>    │</a:t>
            </a:r>
          </a:p>
          <a:p>
            <a:r>
              <a:rPr lang="ru-RU" sz="800" dirty="0"/>
              <a:t>    ├── models.py                         # Модели данных (</a:t>
            </a:r>
            <a:r>
              <a:rPr lang="ru-RU" sz="800" dirty="0" err="1"/>
              <a:t>Tag</a:t>
            </a:r>
            <a:r>
              <a:rPr lang="ru-RU" sz="800" dirty="0"/>
              <a:t>, </a:t>
            </a:r>
            <a:r>
              <a:rPr lang="ru-RU" sz="800" dirty="0" err="1"/>
              <a:t>Marketplace</a:t>
            </a:r>
            <a:r>
              <a:rPr lang="ru-RU" sz="800" dirty="0"/>
              <a:t>, </a:t>
            </a:r>
            <a:r>
              <a:rPr lang="ru-RU" sz="800" dirty="0" err="1"/>
              <a:t>Comment</a:t>
            </a:r>
            <a:r>
              <a:rPr lang="ru-RU" sz="800" dirty="0"/>
              <a:t>, ...)</a:t>
            </a:r>
          </a:p>
          <a:p>
            <a:r>
              <a:rPr lang="ru-RU" sz="800" dirty="0"/>
              <a:t>    ├── views.py                            # Представления (логика обработки запросов)</a:t>
            </a:r>
          </a:p>
          <a:p>
            <a:r>
              <a:rPr lang="ru-RU" sz="800" dirty="0"/>
              <a:t>    ├── urls.py                                # Маршруты приложения</a:t>
            </a:r>
          </a:p>
          <a:p>
            <a:r>
              <a:rPr lang="ru-RU" sz="800" dirty="0"/>
              <a:t>    ├── admin.py                          # Настройки админ-панели</a:t>
            </a:r>
          </a:p>
          <a:p>
            <a:r>
              <a:rPr lang="ru-RU" sz="800" dirty="0"/>
              <a:t>    ├── forms.py                            # Формы (</a:t>
            </a:r>
            <a:r>
              <a:rPr lang="ru-RU" sz="800" dirty="0" err="1"/>
              <a:t>CommentForm</a:t>
            </a:r>
            <a:r>
              <a:rPr lang="ru-RU" sz="800" dirty="0"/>
              <a:t>, </a:t>
            </a:r>
            <a:r>
              <a:rPr lang="ru-RU" sz="800" dirty="0" err="1"/>
              <a:t>MarketplaceForm</a:t>
            </a:r>
            <a:r>
              <a:rPr lang="ru-RU" sz="800" dirty="0"/>
              <a:t>)</a:t>
            </a:r>
          </a:p>
          <a:p>
            <a:r>
              <a:rPr lang="ru-RU" sz="800" dirty="0"/>
              <a:t>    ├── tasks.py                             # Задачи планировщика (рассылка уведомлений)</a:t>
            </a:r>
          </a:p>
          <a:p>
            <a:r>
              <a:rPr lang="ru-RU" sz="800" dirty="0"/>
              <a:t>    ├── context_processors.py    # Глобальный контекст (счётчик уведомлений)</a:t>
            </a:r>
          </a:p>
          <a:p>
            <a:r>
              <a:rPr lang="ru-RU" sz="800" dirty="0"/>
              <a:t>    │</a:t>
            </a:r>
          </a:p>
          <a:p>
            <a:r>
              <a:rPr lang="ru-RU" sz="800" dirty="0"/>
              <a:t>    ├── </a:t>
            </a:r>
            <a:r>
              <a:rPr lang="ru-RU" sz="800" dirty="0" err="1"/>
              <a:t>management</a:t>
            </a:r>
            <a:r>
              <a:rPr lang="ru-RU" sz="800" dirty="0"/>
              <a:t>/</a:t>
            </a:r>
          </a:p>
          <a:p>
            <a:r>
              <a:rPr lang="ru-RU" sz="800" dirty="0"/>
              <a:t>    │   └── </a:t>
            </a:r>
            <a:r>
              <a:rPr lang="ru-RU" sz="800" dirty="0" err="1"/>
              <a:t>commands</a:t>
            </a:r>
            <a:r>
              <a:rPr lang="ru-RU" sz="800" dirty="0"/>
              <a:t>/</a:t>
            </a:r>
          </a:p>
          <a:p>
            <a:r>
              <a:rPr lang="ru-RU" sz="800" dirty="0"/>
              <a:t>    │       └── test_notifications.py                                    # Команда тестовой рассылки</a:t>
            </a:r>
          </a:p>
          <a:p>
            <a:r>
              <a:rPr lang="ru-RU" sz="800" dirty="0"/>
              <a:t>    │</a:t>
            </a:r>
          </a:p>
          <a:p>
            <a:r>
              <a:rPr lang="ru-RU" sz="800" dirty="0"/>
              <a:t>    ├── </a:t>
            </a:r>
            <a:r>
              <a:rPr lang="ru-RU" sz="800" dirty="0" err="1"/>
              <a:t>migrations</a:t>
            </a:r>
            <a:r>
              <a:rPr lang="ru-RU" sz="800" dirty="0"/>
              <a:t>/                                                            # Миграции базы данных</a:t>
            </a:r>
          </a:p>
          <a:p>
            <a:r>
              <a:rPr lang="ru-RU" sz="800" dirty="0"/>
              <a:t>    │</a:t>
            </a:r>
          </a:p>
          <a:p>
            <a:r>
              <a:rPr lang="ru-RU" sz="800" dirty="0"/>
              <a:t>    └── </a:t>
            </a:r>
            <a:r>
              <a:rPr lang="ru-RU" sz="800" dirty="0" err="1"/>
              <a:t>templates</a:t>
            </a:r>
            <a:r>
              <a:rPr lang="ru-RU" sz="800" dirty="0"/>
              <a:t>/</a:t>
            </a:r>
          </a:p>
          <a:p>
            <a:r>
              <a:rPr lang="ru-RU" sz="800" dirty="0"/>
              <a:t>        ├── base.html                                                           # Базовый шаблон (навигация, тема)</a:t>
            </a:r>
          </a:p>
          <a:p>
            <a:r>
              <a:rPr lang="ru-RU" sz="800" dirty="0"/>
              <a:t>        ├── </a:t>
            </a:r>
            <a:r>
              <a:rPr lang="ru-RU" sz="800" dirty="0" err="1"/>
              <a:t>registration</a:t>
            </a:r>
            <a:r>
              <a:rPr lang="ru-RU" sz="800" dirty="0"/>
              <a:t>/</a:t>
            </a:r>
          </a:p>
          <a:p>
            <a:r>
              <a:rPr lang="ru-RU" sz="800" dirty="0"/>
              <a:t>        │   └── login.html                                                      # Страница входа</a:t>
            </a:r>
          </a:p>
          <a:p>
            <a:r>
              <a:rPr lang="ru-RU" sz="800" dirty="0"/>
              <a:t>        └── </a:t>
            </a:r>
            <a:r>
              <a:rPr lang="ru-RU" sz="800" dirty="0" err="1"/>
              <a:t>marketplaces</a:t>
            </a:r>
            <a:r>
              <a:rPr lang="ru-RU" sz="800" dirty="0"/>
              <a:t>/</a:t>
            </a:r>
          </a:p>
          <a:p>
            <a:r>
              <a:rPr lang="ru-RU" sz="800" dirty="0"/>
              <a:t>            ├── index.html                                                      # Главная страница</a:t>
            </a:r>
          </a:p>
          <a:p>
            <a:r>
              <a:rPr lang="ru-RU" sz="800" dirty="0"/>
              <a:t>            ├── marketplaces_list.html                                  # Каталог с фильтрами</a:t>
            </a:r>
          </a:p>
          <a:p>
            <a:r>
              <a:rPr lang="ru-RU" sz="800" dirty="0"/>
              <a:t>            ├── marketplace_detail.html                              # Страница товара</a:t>
            </a:r>
          </a:p>
          <a:p>
            <a:r>
              <a:rPr lang="ru-RU" sz="800" dirty="0"/>
              <a:t>            ├── saved_marketplaces.html                            # Избранное/корзина</a:t>
            </a:r>
          </a:p>
          <a:p>
            <a:r>
              <a:rPr lang="ru-RU" sz="800" dirty="0"/>
              <a:t>            ├── profile.html                                                     # Личный кабинет</a:t>
            </a:r>
          </a:p>
          <a:p>
            <a:r>
              <a:rPr lang="ru-RU" sz="800" dirty="0"/>
              <a:t>            ├── profile_form.html                                            # Форма добавления/редактирования</a:t>
            </a:r>
          </a:p>
          <a:p>
            <a:r>
              <a:rPr lang="ru-RU" sz="800" dirty="0"/>
              <a:t>            ├── profile_confirm_delete.html</a:t>
            </a:r>
          </a:p>
          <a:p>
            <a:r>
              <a:rPr lang="ru-RU" sz="800" dirty="0"/>
              <a:t>            ├── profile_comments.html                                 # Список отзывов</a:t>
            </a:r>
          </a:p>
          <a:p>
            <a:r>
              <a:rPr lang="ru-RU" sz="800" dirty="0"/>
              <a:t>            ├── profile_comment_form.html</a:t>
            </a:r>
          </a:p>
          <a:p>
            <a:r>
              <a:rPr lang="ru-RU" sz="800" dirty="0"/>
              <a:t>            ├── profile_comment_confirm_delete.html</a:t>
            </a:r>
          </a:p>
          <a:p>
            <a:r>
              <a:rPr lang="ru-RU" sz="800" dirty="0"/>
              <a:t>            ├── profile_sales_stats.html                                  # Статистика продаж</a:t>
            </a:r>
          </a:p>
          <a:p>
            <a:r>
              <a:rPr lang="ru-RU" sz="800" dirty="0"/>
              <a:t>            └── notifications.html                                           # Уведомления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97F84-F66E-42B1-AD19-C5CFF9DF00CF}"/>
              </a:ext>
            </a:extLst>
          </p:cNvPr>
          <p:cNvSpPr txBox="1"/>
          <p:nvPr/>
        </p:nvSpPr>
        <p:spPr>
          <a:xfrm>
            <a:off x="7566660" y="427970"/>
            <a:ext cx="318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Файловая структура проекта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DBB65-D67E-4C70-972E-D09C39EB0F19}"/>
              </a:ext>
            </a:extLst>
          </p:cNvPr>
          <p:cNvSpPr txBox="1"/>
          <p:nvPr/>
        </p:nvSpPr>
        <p:spPr>
          <a:xfrm>
            <a:off x="1784812" y="1304919"/>
            <a:ext cx="2651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7F8FC"/>
                </a:solidFill>
                <a:effectLst/>
                <a:latin typeface="system-ui"/>
              </a:rPr>
              <a:t>UML-</a:t>
            </a: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диаграмма классов</a:t>
            </a:r>
          </a:p>
        </p:txBody>
      </p:sp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B095915F-325F-4956-AD75-90E8BC7AD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997350"/>
              </p:ext>
            </p:extLst>
          </p:nvPr>
        </p:nvGraphicFramePr>
        <p:xfrm>
          <a:off x="1531473" y="1868284"/>
          <a:ext cx="1093470" cy="957019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093470">
                  <a:extLst>
                    <a:ext uri="{9D8B030D-6E8A-4147-A177-3AD203B41FA5}">
                      <a16:colId xmlns:a16="http://schemas.microsoft.com/office/drawing/2014/main" val="4244980546"/>
                    </a:ext>
                  </a:extLst>
                </a:gridCol>
              </a:tblGrid>
              <a:tr h="206301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solidFill>
                            <a:schemeClr val="bg1"/>
                          </a:solidFill>
                        </a:rPr>
                        <a:t>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01335"/>
                  </a:ext>
                </a:extLst>
              </a:tr>
              <a:tr h="713179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/>
                        <a:t>username</a:t>
                      </a:r>
                      <a:endParaRPr lang="ru-RU" sz="1000" b="0" dirty="0"/>
                    </a:p>
                    <a:p>
                      <a:pPr algn="l"/>
                      <a:r>
                        <a:rPr lang="en-US" sz="1000" dirty="0"/>
                        <a:t>password</a:t>
                      </a:r>
                      <a:endParaRPr lang="ru-RU" sz="1000" dirty="0"/>
                    </a:p>
                    <a:p>
                      <a:pPr algn="l"/>
                      <a:r>
                        <a:rPr lang="en-US" sz="1000" dirty="0"/>
                        <a:t>email</a:t>
                      </a:r>
                      <a:endParaRPr lang="ru-RU" sz="1000" dirty="0"/>
                    </a:p>
                    <a:p>
                      <a:pPr algn="l"/>
                      <a:r>
                        <a:rPr lang="en-US" sz="1000" dirty="0"/>
                        <a:t>d</a:t>
                      </a:r>
                      <a:r>
                        <a:rPr lang="ru-RU" sz="1000" dirty="0" err="1"/>
                        <a:t>ate_joined</a:t>
                      </a:r>
                      <a:endParaRPr lang="ru-RU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92373"/>
                  </a:ext>
                </a:extLst>
              </a:tr>
            </a:tbl>
          </a:graphicData>
        </a:graphic>
      </p:graphicFrame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A3F566B4-B1B1-481B-AECC-938707B0B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873686"/>
              </p:ext>
            </p:extLst>
          </p:nvPr>
        </p:nvGraphicFramePr>
        <p:xfrm>
          <a:off x="3197856" y="1868284"/>
          <a:ext cx="1137285" cy="6819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37285">
                  <a:extLst>
                    <a:ext uri="{9D8B030D-6E8A-4147-A177-3AD203B41FA5}">
                      <a16:colId xmlns:a16="http://schemas.microsoft.com/office/drawing/2014/main" val="1821573500"/>
                    </a:ext>
                  </a:extLst>
                </a:gridCol>
              </a:tblGrid>
              <a:tr h="222692"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Tag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1303465"/>
                  </a:ext>
                </a:extLst>
              </a:tr>
              <a:tr h="438131">
                <a:tc>
                  <a:txBody>
                    <a:bodyPr/>
                    <a:lstStyle/>
                    <a:p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name</a:t>
                      </a:r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slug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20094998"/>
                  </a:ext>
                </a:extLst>
              </a:tr>
            </a:tbl>
          </a:graphicData>
        </a:graphic>
      </p:graphicFrame>
      <p:graphicFrame>
        <p:nvGraphicFramePr>
          <p:cNvPr id="13" name="Таблица 13">
            <a:extLst>
              <a:ext uri="{FF2B5EF4-FFF2-40B4-BE49-F238E27FC236}">
                <a16:creationId xmlns:a16="http://schemas.microsoft.com/office/drawing/2014/main" id="{10A4F9B5-1780-4F6D-ABFB-A5D9770BB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930741"/>
              </p:ext>
            </p:extLst>
          </p:nvPr>
        </p:nvGraphicFramePr>
        <p:xfrm>
          <a:off x="1531472" y="4389887"/>
          <a:ext cx="1474471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4471">
                  <a:extLst>
                    <a:ext uri="{9D8B030D-6E8A-4147-A177-3AD203B41FA5}">
                      <a16:colId xmlns:a16="http://schemas.microsoft.com/office/drawing/2014/main" val="192627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000" b="1" kern="1200" dirty="0" err="1">
                          <a:solidFill>
                            <a:schemeClr val="bg1"/>
                          </a:solidFill>
                        </a:rPr>
                        <a:t>SavedMarketplace</a:t>
                      </a:r>
                      <a:endParaRPr lang="ru-RU" sz="10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871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0" kern="1200" dirty="0" err="1">
                          <a:solidFill>
                            <a:schemeClr val="bg1"/>
                          </a:solidFill>
                        </a:rPr>
                        <a:t>saved_at</a:t>
                      </a:r>
                      <a:endParaRPr lang="en-US" sz="1000" b="0" kern="12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ru-RU" sz="1000" b="0" kern="1200" dirty="0" err="1">
                          <a:solidFill>
                            <a:schemeClr val="bg1"/>
                          </a:solidFill>
                        </a:rPr>
                        <a:t>user</a:t>
                      </a:r>
                      <a:r>
                        <a:rPr lang="ru-RU" sz="1000" b="0" kern="1200" dirty="0">
                          <a:solidFill>
                            <a:schemeClr val="bg1"/>
                          </a:solidFill>
                        </a:rPr>
                        <a:t> ──► </a:t>
                      </a:r>
                      <a:r>
                        <a:rPr lang="ru-RU" sz="1000" b="0" kern="1200" dirty="0" err="1">
                          <a:solidFill>
                            <a:schemeClr val="bg1"/>
                          </a:solidFill>
                        </a:rPr>
                        <a:t>Use</a:t>
                      </a:r>
                      <a:r>
                        <a:rPr lang="en-US" sz="1000" b="0" kern="1200" dirty="0">
                          <a:solidFill>
                            <a:schemeClr val="bg1"/>
                          </a:solidFill>
                        </a:rPr>
                        <a:t>r</a:t>
                      </a:r>
                    </a:p>
                    <a:p>
                      <a:r>
                        <a:rPr lang="ru-RU" sz="1000" b="0" kern="1200" dirty="0" err="1">
                          <a:solidFill>
                            <a:schemeClr val="bg1"/>
                          </a:solidFill>
                        </a:rPr>
                        <a:t>marketplace</a:t>
                      </a:r>
                      <a:r>
                        <a:rPr lang="ru-RU" sz="1000" b="0" kern="1200" dirty="0">
                          <a:solidFill>
                            <a:schemeClr val="bg1"/>
                          </a:solidFill>
                        </a:rPr>
                        <a:t> ──► ...</a:t>
                      </a:r>
                      <a:endParaRPr lang="ru-RU" sz="10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9728907"/>
                  </a:ext>
                </a:extLst>
              </a:tr>
            </a:tbl>
          </a:graphicData>
        </a:graphic>
      </p:graphicFrame>
      <p:graphicFrame>
        <p:nvGraphicFramePr>
          <p:cNvPr id="14" name="Таблица 14">
            <a:extLst>
              <a:ext uri="{FF2B5EF4-FFF2-40B4-BE49-F238E27FC236}">
                <a16:creationId xmlns:a16="http://schemas.microsoft.com/office/drawing/2014/main" id="{7D1715F6-40A0-4901-9715-6B8D844A4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477750"/>
              </p:ext>
            </p:extLst>
          </p:nvPr>
        </p:nvGraphicFramePr>
        <p:xfrm>
          <a:off x="1531472" y="3209340"/>
          <a:ext cx="3535679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35679">
                  <a:extLst>
                    <a:ext uri="{9D8B030D-6E8A-4147-A177-3AD203B41FA5}">
                      <a16:colId xmlns:a16="http://schemas.microsoft.com/office/drawing/2014/main" val="2584462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Marketplace</a:t>
                      </a:r>
                      <a:endParaRPr lang="ru-RU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5680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title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price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content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pub_date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is_public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image</a:t>
                      </a:r>
                      <a:endParaRPr lang="en-US" sz="1000" b="1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author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 ──────────────► User (</a:t>
                      </a:r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ForeignKey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sz="1000" b="1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tags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 ─────────────────► </a:t>
                      </a:r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Tag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 (</a:t>
                      </a:r>
                      <a:r>
                        <a:rPr lang="ru-RU" sz="1000" b="1" kern="1200" dirty="0" err="1">
                          <a:solidFill>
                            <a:schemeClr val="dk1"/>
                          </a:solidFill>
                        </a:rPr>
                        <a:t>ManyToMany</a:t>
                      </a:r>
                      <a:r>
                        <a:rPr lang="ru-RU" sz="1000" b="1" kern="1200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lang="ru-RU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2338063"/>
                  </a:ext>
                </a:extLst>
              </a:tr>
            </a:tbl>
          </a:graphicData>
        </a:graphic>
      </p:graphicFrame>
      <p:graphicFrame>
        <p:nvGraphicFramePr>
          <p:cNvPr id="15" name="Таблица 15">
            <a:extLst>
              <a:ext uri="{FF2B5EF4-FFF2-40B4-BE49-F238E27FC236}">
                <a16:creationId xmlns:a16="http://schemas.microsoft.com/office/drawing/2014/main" id="{FB5C8A81-C70D-4D7E-8AB0-CE00F7288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383458"/>
              </p:ext>
            </p:extLst>
          </p:nvPr>
        </p:nvGraphicFramePr>
        <p:xfrm>
          <a:off x="3197856" y="4389887"/>
          <a:ext cx="1868807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68807">
                  <a:extLst>
                    <a:ext uri="{9D8B030D-6E8A-4147-A177-3AD203B41FA5}">
                      <a16:colId xmlns:a16="http://schemas.microsoft.com/office/drawing/2014/main" val="1724020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000" b="1" kern="1200" dirty="0" err="1">
                          <a:solidFill>
                            <a:schemeClr val="bg1"/>
                          </a:solidFill>
                        </a:rPr>
                        <a:t>Comment</a:t>
                      </a:r>
                      <a:endParaRPr lang="ru-RU" sz="10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647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text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created_at</a:t>
                      </a:r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user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</a:rPr>
                        <a:t> ──► User </a:t>
                      </a:r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marketplace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</a:rPr>
                        <a:t> ──► ... 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79726238"/>
                  </a:ext>
                </a:extLst>
              </a:tr>
            </a:tbl>
          </a:graphicData>
        </a:graphic>
      </p:graphicFrame>
      <p:graphicFrame>
        <p:nvGraphicFramePr>
          <p:cNvPr id="16" name="Таблица 16">
            <a:extLst>
              <a:ext uri="{FF2B5EF4-FFF2-40B4-BE49-F238E27FC236}">
                <a16:creationId xmlns:a16="http://schemas.microsoft.com/office/drawing/2014/main" id="{686AA4E5-AEFC-4F3B-B5F1-7EE198329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054546"/>
              </p:ext>
            </p:extLst>
          </p:nvPr>
        </p:nvGraphicFramePr>
        <p:xfrm>
          <a:off x="1531472" y="5659215"/>
          <a:ext cx="1579244" cy="944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9244">
                  <a:extLst>
                    <a:ext uri="{9D8B030D-6E8A-4147-A177-3AD203B41FA5}">
                      <a16:colId xmlns:a16="http://schemas.microsoft.com/office/drawing/2014/main" val="2583743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000" b="1" kern="1200" dirty="0" err="1">
                          <a:solidFill>
                            <a:schemeClr val="bg1"/>
                          </a:solidFill>
                        </a:rPr>
                        <a:t>Notification</a:t>
                      </a:r>
                      <a:endParaRPr lang="ru-RU" sz="10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339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title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message</a:t>
                      </a:r>
                      <a:endParaRPr lang="ru-RU" sz="10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notification_type</a:t>
                      </a:r>
                      <a:endParaRPr lang="ru-RU" sz="10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is_read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created_at</a:t>
                      </a:r>
                      <a:endParaRPr lang="ru-RU" sz="10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000" kern="1200" dirty="0" err="1">
                          <a:solidFill>
                            <a:schemeClr val="dk1"/>
                          </a:solidFill>
                        </a:rPr>
                        <a:t>user</a:t>
                      </a:r>
                      <a:r>
                        <a:rPr lang="ru-RU" sz="1000" kern="1200" dirty="0">
                          <a:solidFill>
                            <a:schemeClr val="dk1"/>
                          </a:solidFill>
                        </a:rPr>
                        <a:t> ──► User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9721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89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2DFA3B-C114-40AD-ACAC-8B352B6F0C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053" t="2403" b="2941"/>
          <a:stretch/>
        </p:blipFill>
        <p:spPr>
          <a:xfrm>
            <a:off x="-5006" y="191311"/>
            <a:ext cx="12197006" cy="6666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0CCBE6-3238-49E7-942D-48D093E7249C}"/>
              </a:ext>
            </a:extLst>
          </p:cNvPr>
          <p:cNvSpPr txBox="1"/>
          <p:nvPr/>
        </p:nvSpPr>
        <p:spPr>
          <a:xfrm>
            <a:off x="1822316" y="2315183"/>
            <a:ext cx="8962416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ru-RU" sz="8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  <a:reflection blurRad="6350" stA="50000" endA="300" endPos="50000" dist="60007" dir="5400000" sy="-100000" algn="bl" rotWithShape="0"/>
                </a:effectLst>
              </a:rPr>
              <a:t>Фрагменты кода</a:t>
            </a:r>
          </a:p>
        </p:txBody>
      </p:sp>
    </p:spTree>
    <p:extLst>
      <p:ext uri="{BB962C8B-B14F-4D97-AF65-F5344CB8AC3E}">
        <p14:creationId xmlns:p14="http://schemas.microsoft.com/office/powerpoint/2010/main" val="3536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E5163B-533A-488D-9549-34F98021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5109"/>
            <a:ext cx="12192000" cy="59128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0F460F-C47C-427C-8849-8AE3C4807D8B}"/>
              </a:ext>
            </a:extLst>
          </p:cNvPr>
          <p:cNvSpPr txBox="1"/>
          <p:nvPr/>
        </p:nvSpPr>
        <p:spPr>
          <a:xfrm>
            <a:off x="6096000" y="237223"/>
            <a:ext cx="5135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Главный экран</a:t>
            </a:r>
          </a:p>
        </p:txBody>
      </p:sp>
    </p:spTree>
    <p:extLst>
      <p:ext uri="{BB962C8B-B14F-4D97-AF65-F5344CB8AC3E}">
        <p14:creationId xmlns:p14="http://schemas.microsoft.com/office/powerpoint/2010/main" val="46306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AD0F3F-AD9E-4A98-9F80-7C8D401F8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5109"/>
            <a:ext cx="12192000" cy="5912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68AC5D-1D9D-44A4-BC34-1138D3652C86}"/>
              </a:ext>
            </a:extLst>
          </p:cNvPr>
          <p:cNvSpPr txBox="1"/>
          <p:nvPr/>
        </p:nvSpPr>
        <p:spPr>
          <a:xfrm>
            <a:off x="6096000" y="237223"/>
            <a:ext cx="5600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Добавление товара</a:t>
            </a:r>
          </a:p>
        </p:txBody>
      </p:sp>
    </p:spTree>
    <p:extLst>
      <p:ext uri="{BB962C8B-B14F-4D97-AF65-F5344CB8AC3E}">
        <p14:creationId xmlns:p14="http://schemas.microsoft.com/office/powerpoint/2010/main" val="3733611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11D892-6442-439E-8E7E-7ED91699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5109"/>
            <a:ext cx="12192000" cy="5912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5D79A4-96EC-4C10-9D74-54070F5CF775}"/>
              </a:ext>
            </a:extLst>
          </p:cNvPr>
          <p:cNvSpPr txBox="1"/>
          <p:nvPr/>
        </p:nvSpPr>
        <p:spPr>
          <a:xfrm>
            <a:off x="6096000" y="237223"/>
            <a:ext cx="5135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Система отзывов</a:t>
            </a:r>
          </a:p>
        </p:txBody>
      </p:sp>
    </p:spTree>
    <p:extLst>
      <p:ext uri="{BB962C8B-B14F-4D97-AF65-F5344CB8AC3E}">
        <p14:creationId xmlns:p14="http://schemas.microsoft.com/office/powerpoint/2010/main" val="3868407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5273AD-E7A6-4B4E-A0A5-7187C21D17A2}"/>
              </a:ext>
            </a:extLst>
          </p:cNvPr>
          <p:cNvSpPr txBox="1"/>
          <p:nvPr/>
        </p:nvSpPr>
        <p:spPr>
          <a:xfrm>
            <a:off x="6088380" y="50083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/>
                <a:latin typeface="system-ui"/>
              </a:rPr>
              <a:t>— проверка сайта в </a:t>
            </a:r>
            <a:r>
              <a:rPr lang="ru-RU" i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/>
                <a:latin typeface="system-ui"/>
              </a:rPr>
              <a:t>Chrome</a:t>
            </a:r>
            <a:r>
              <a:rPr lang="ru-RU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/>
                <a:latin typeface="system-ui"/>
              </a:rPr>
              <a:t>, Firefox, Edge и Safari, а также на мобильных устройствах для адаптивности вёрстки.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BE860-1D36-4868-B72B-49CCD6314952}"/>
              </a:ext>
            </a:extLst>
          </p:cNvPr>
          <p:cNvSpPr txBox="1"/>
          <p:nvPr/>
        </p:nvSpPr>
        <p:spPr>
          <a:xfrm>
            <a:off x="6096000" y="237223"/>
            <a:ext cx="5135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Методы тестирования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494D7C-282E-4748-B86A-189A8075A2DA}"/>
              </a:ext>
            </a:extLst>
          </p:cNvPr>
          <p:cNvSpPr txBox="1"/>
          <p:nvPr/>
        </p:nvSpPr>
        <p:spPr>
          <a:xfrm>
            <a:off x="6080760" y="19703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/>
                <a:latin typeface="system-ui"/>
              </a:rPr>
              <a:t>— проверка отдельных функций: работу фильтров каталога, валидацию форм регистрации и авторизации.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AB4DF5-C51F-49AF-BACF-9627B7F5E946}"/>
              </a:ext>
            </a:extLst>
          </p:cNvPr>
          <p:cNvSpPr txBox="1"/>
          <p:nvPr/>
        </p:nvSpPr>
        <p:spPr>
          <a:xfrm>
            <a:off x="6080760" y="27993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/>
                <a:latin typeface="system-ui"/>
              </a:rPr>
              <a:t>— проверка взаимодействий между модулями: как работает связка 'добавление скина в корзину → оформление сделки → уведомление продавца'.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443564-B1EA-4677-A719-E1C309045E38}"/>
              </a:ext>
            </a:extLst>
          </p:cNvPr>
          <p:cNvSpPr txBox="1"/>
          <p:nvPr/>
        </p:nvSpPr>
        <p:spPr>
          <a:xfrm>
            <a:off x="6080760" y="39052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i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/>
                <a:latin typeface="system-ui"/>
              </a:rPr>
              <a:t>— проверка пользовательских сценариев от лица обычного геймера: регистрация, поиск скина по игре, добавление в избранное, совершение покупки, оставление отзыва.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85049E-9FC1-4914-A5B0-7983605A759C}"/>
              </a:ext>
            </a:extLst>
          </p:cNvPr>
          <p:cNvSpPr txBox="1"/>
          <p:nvPr/>
        </p:nvSpPr>
        <p:spPr>
          <a:xfrm>
            <a:off x="310514" y="1970371"/>
            <a:ext cx="47872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i="0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ystem-ui"/>
              </a:rPr>
              <a:t>Модульное тестирование </a:t>
            </a:r>
            <a:endParaRPr lang="ru-RU" sz="3200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6382F-885D-46F3-84B5-4FC2C1EB0058}"/>
              </a:ext>
            </a:extLst>
          </p:cNvPr>
          <p:cNvSpPr txBox="1"/>
          <p:nvPr/>
        </p:nvSpPr>
        <p:spPr>
          <a:xfrm>
            <a:off x="310514" y="2491140"/>
            <a:ext cx="58997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i="0" spc="5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ystem-ui"/>
              </a:defRPr>
            </a:lvl1pPr>
          </a:lstStyle>
          <a:p>
            <a:r>
              <a:rPr lang="ru-RU" dirty="0"/>
              <a:t>Интеграционное тестирование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08EDD5-9CFF-4B35-B3EB-6C54C9FC1CC3}"/>
              </a:ext>
            </a:extLst>
          </p:cNvPr>
          <p:cNvSpPr txBox="1"/>
          <p:nvPr/>
        </p:nvSpPr>
        <p:spPr>
          <a:xfrm>
            <a:off x="310514" y="3075375"/>
            <a:ext cx="4238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i="0" spc="5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ystem-ui"/>
              </a:defRPr>
            </a:lvl1pPr>
          </a:lstStyle>
          <a:p>
            <a:r>
              <a:rPr lang="ru-RU" dirty="0"/>
              <a:t>Ручное тестирование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DFE199-2D9C-4180-8FB5-466A55D57BBC}"/>
              </a:ext>
            </a:extLst>
          </p:cNvPr>
          <p:cNvSpPr txBox="1"/>
          <p:nvPr/>
        </p:nvSpPr>
        <p:spPr>
          <a:xfrm>
            <a:off x="310514" y="3596144"/>
            <a:ext cx="5838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i="0" spc="5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system-ui"/>
              </a:defRPr>
            </a:lvl1pPr>
          </a:lstStyle>
          <a:p>
            <a:r>
              <a:rPr lang="ru-RU" dirty="0" err="1"/>
              <a:t>Кроссбраузерное</a:t>
            </a:r>
            <a:r>
              <a:rPr lang="ru-RU" dirty="0"/>
              <a:t> тестирование </a:t>
            </a:r>
          </a:p>
        </p:txBody>
      </p:sp>
    </p:spTree>
    <p:extLst>
      <p:ext uri="{BB962C8B-B14F-4D97-AF65-F5344CB8AC3E}">
        <p14:creationId xmlns:p14="http://schemas.microsoft.com/office/powerpoint/2010/main" val="96241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96296E-6 L 2.08333E-6 0.024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22222E-6 L 1.04167E-6 0.0967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3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85185E-6 L -3.95833E-6 0.1886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4" grpId="0"/>
      <p:bldP spid="18" grpId="0"/>
      <p:bldP spid="20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32C3F6-2CEB-499C-BD63-361EDA137F7C}"/>
              </a:ext>
            </a:extLst>
          </p:cNvPr>
          <p:cNvSpPr txBox="1"/>
          <p:nvPr/>
        </p:nvSpPr>
        <p:spPr>
          <a:xfrm>
            <a:off x="6096000" y="237223"/>
            <a:ext cx="5135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Результаты тестирования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B87586-69D8-4211-9B1F-8DE58615E6B2}"/>
              </a:ext>
            </a:extLst>
          </p:cNvPr>
          <p:cNvSpPr txBox="1"/>
          <p:nvPr/>
        </p:nvSpPr>
        <p:spPr>
          <a:xfrm>
            <a:off x="807720" y="1885800"/>
            <a:ext cx="108889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 </a:t>
            </a:r>
            <a:r>
              <a:rPr lang="ru-RU" sz="24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В процессе тестирования было обнаружено около 20 ошибок, среди которых: некорректное отображение скинов при фильтрации, ошибки валидации </a:t>
            </a:r>
            <a:r>
              <a:rPr lang="ru-RU" sz="2400" b="1" i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email</a:t>
            </a:r>
            <a:r>
              <a:rPr lang="ru-RU" sz="24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 при регистрации, проблемы с загрузкой изображений на слабых соединениях.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400" b="1" i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 Все найденные ошибки были успешно устранены: переписана логика фильтрации, оптимизировал загрузку.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400" b="1" i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rPr>
              <a:t> По итогам тестирования все поставленные цели достигнуты: сайт стабильно работает, все ключевые функции выполнены, интерфейс отзывчив и удобен для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4237252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B9BF96-00B2-4272-80FD-122ED3BAB26E}"/>
              </a:ext>
            </a:extLst>
          </p:cNvPr>
          <p:cNvSpPr txBox="1"/>
          <p:nvPr/>
        </p:nvSpPr>
        <p:spPr>
          <a:xfrm>
            <a:off x="807720" y="1885800"/>
            <a:ext cx="11168380" cy="3791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Font typeface="Arial" panose="020B0604020202020204" pitchFamily="34" charset="0"/>
              <a:buChar char="•"/>
              <a:defRPr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ystem-ui"/>
              </a:defRPr>
            </a:lvl1pPr>
          </a:lstStyle>
          <a:p>
            <a:r>
              <a:rPr lang="ru-RU" dirty="0"/>
              <a:t> Все поставленные в начале работы задачи были успешно выполнены: создан полнофункциональный сайт с каталогом скинов, системой регистрации, фильтрацией, личным кабинетом и имитацией безопасных сделок.</a:t>
            </a:r>
          </a:p>
          <a:p>
            <a:endParaRPr lang="ru-RU" dirty="0"/>
          </a:p>
          <a:p>
            <a:r>
              <a:rPr lang="ru-RU" dirty="0"/>
              <a:t> Проект полностью готов к демонстрации и может служить основой для дальнейшего развития полноценной торговой платформы.</a:t>
            </a:r>
          </a:p>
          <a:p>
            <a:endParaRPr lang="ru-RU" dirty="0"/>
          </a:p>
          <a:p>
            <a:r>
              <a:rPr lang="ru-RU" dirty="0"/>
              <a:t> В ходе работы я освоил и применил на практике современные технологии веб-разработки, научился проектировать структуру сайта, работать с базами данных и обеспечивать безопасность пользовательских данных.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C298BA-159E-41BC-AB31-187E474A3D94}"/>
              </a:ext>
            </a:extLst>
          </p:cNvPr>
          <p:cNvSpPr txBox="1"/>
          <p:nvPr/>
        </p:nvSpPr>
        <p:spPr>
          <a:xfrm>
            <a:off x="6096000" y="237223"/>
            <a:ext cx="5135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1105953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D8FBE1-01A8-47CC-8C15-7368304BB754}"/>
              </a:ext>
            </a:extLst>
          </p:cNvPr>
          <p:cNvSpPr txBox="1"/>
          <p:nvPr/>
        </p:nvSpPr>
        <p:spPr>
          <a:xfrm>
            <a:off x="6096000" y="237223"/>
            <a:ext cx="5135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Перспективы развития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C66336B-7DA3-4979-ACC6-4699CB1F7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68879"/>
              </p:ext>
            </p:extLst>
          </p:nvPr>
        </p:nvGraphicFramePr>
        <p:xfrm>
          <a:off x="279069" y="1615045"/>
          <a:ext cx="11655632" cy="494607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827816">
                  <a:extLst>
                    <a:ext uri="{9D8B030D-6E8A-4147-A177-3AD203B41FA5}">
                      <a16:colId xmlns:a16="http://schemas.microsoft.com/office/drawing/2014/main" val="2731721563"/>
                    </a:ext>
                  </a:extLst>
                </a:gridCol>
                <a:gridCol w="5827816">
                  <a:extLst>
                    <a:ext uri="{9D8B030D-6E8A-4147-A177-3AD203B41FA5}">
                      <a16:colId xmlns:a16="http://schemas.microsoft.com/office/drawing/2014/main" val="1473613654"/>
                    </a:ext>
                  </a:extLst>
                </a:gridCol>
              </a:tblGrid>
              <a:tr h="433705">
                <a:tc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effectLst/>
                        </a:rPr>
                        <a:t>Направление</a:t>
                      </a: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effectLst/>
                        </a:rPr>
                        <a:t>Планируемые функции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2673899169"/>
                  </a:ext>
                </a:extLst>
              </a:tr>
              <a:tr h="576714"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🛒 </a:t>
                      </a:r>
                      <a:r>
                        <a:rPr lang="ru-RU" sz="1700" b="1">
                          <a:effectLst/>
                        </a:rPr>
                        <a:t>Платёжная система</a:t>
                      </a:r>
                      <a:endParaRPr lang="ru-RU" sz="1700">
                        <a:effectLst/>
                      </a:endParaRP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Интеграция с ЮKassa / Stripe для оплаты скинов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937326656"/>
                  </a:ext>
                </a:extLst>
              </a:tr>
              <a:tr h="576714"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📧 </a:t>
                      </a:r>
                      <a:r>
                        <a:rPr lang="en-US" sz="1700" b="1">
                          <a:effectLst/>
                        </a:rPr>
                        <a:t>Email-</a:t>
                      </a:r>
                      <a:r>
                        <a:rPr lang="ru-RU" sz="1700" b="1">
                          <a:effectLst/>
                        </a:rPr>
                        <a:t>уведомления</a:t>
                      </a:r>
                      <a:endParaRPr lang="ru-RU" sz="1700">
                        <a:effectLst/>
                      </a:endParaRP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Отправка уведомлений на почту через SMTP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370879362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🔔 </a:t>
                      </a:r>
                      <a:r>
                        <a:rPr lang="en-US" sz="1700" b="1">
                          <a:effectLst/>
                        </a:rPr>
                        <a:t>Push-</a:t>
                      </a:r>
                      <a:r>
                        <a:rPr lang="ru-RU" sz="1700" b="1">
                          <a:effectLst/>
                        </a:rPr>
                        <a:t>уведомления</a:t>
                      </a:r>
                      <a:endParaRPr lang="ru-RU" sz="1700">
                        <a:effectLst/>
                      </a:endParaRP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Web Push API для уведомлений в браузере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1607336793"/>
                  </a:ext>
                </a:extLst>
              </a:tr>
              <a:tr h="761374"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💬 </a:t>
                      </a:r>
                      <a:r>
                        <a:rPr lang="ru-RU" sz="1700" b="1">
                          <a:effectLst/>
                        </a:rPr>
                        <a:t>Чат между пользователями</a:t>
                      </a:r>
                      <a:endParaRPr lang="ru-RU" sz="1700">
                        <a:effectLst/>
                      </a:endParaRP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Общение покупателя и продавца в реальном времени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487564358"/>
                  </a:ext>
                </a:extLst>
              </a:tr>
              <a:tr h="576714">
                <a:tc>
                  <a:txBody>
                    <a:bodyPr/>
                    <a:lstStyle/>
                    <a:p>
                      <a:r>
                        <a:rPr lang="ru-RU" sz="1700" dirty="0">
                          <a:effectLst/>
                        </a:rPr>
                        <a:t>📊 </a:t>
                      </a:r>
                      <a:r>
                        <a:rPr lang="ru-RU" sz="1700" b="1" dirty="0">
                          <a:effectLst/>
                        </a:rPr>
                        <a:t>Аналитика и графики</a:t>
                      </a:r>
                      <a:endParaRPr lang="ru-RU" sz="1700" dirty="0">
                        <a:effectLst/>
                      </a:endParaRP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Chart.js для визуализации статистики продаж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1413336013"/>
                  </a:ext>
                </a:extLst>
              </a:tr>
              <a:tr h="576726">
                <a:tc>
                  <a:txBody>
                    <a:bodyPr/>
                    <a:lstStyle/>
                    <a:p>
                      <a:r>
                        <a:rPr lang="ru-RU" sz="1700" dirty="0">
                          <a:effectLst/>
                        </a:rPr>
                        <a:t>🌐 </a:t>
                      </a:r>
                      <a:r>
                        <a:rPr lang="en-US" sz="1700" b="1" dirty="0">
                          <a:effectLst/>
                        </a:rPr>
                        <a:t>REST API</a:t>
                      </a:r>
                      <a:endParaRPr lang="en-US" sz="1700" dirty="0">
                        <a:effectLst/>
                      </a:endParaRP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Мобильное приложение на React Native / Flutter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4227770256"/>
                  </a:ext>
                </a:extLst>
              </a:tr>
              <a:tr h="576714"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🤖 </a:t>
                      </a:r>
                      <a:r>
                        <a:rPr lang="ru-RU" sz="1700" b="1">
                          <a:effectLst/>
                        </a:rPr>
                        <a:t>Рекомендательная система</a:t>
                      </a:r>
                      <a:endParaRPr lang="ru-RU" sz="1700">
                        <a:effectLst/>
                      </a:endParaRP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ML-модель для подбора скинов по интересам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2831158337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r>
                        <a:rPr lang="ru-RU" sz="1700">
                          <a:effectLst/>
                        </a:rPr>
                        <a:t>🏆 </a:t>
                      </a:r>
                      <a:r>
                        <a:rPr lang="ru-RU" sz="1700" b="1">
                          <a:effectLst/>
                        </a:rPr>
                        <a:t>Геймификация</a:t>
                      </a:r>
                      <a:endParaRPr lang="ru-RU" sz="1700">
                        <a:effectLst/>
                      </a:endParaRPr>
                    </a:p>
                  </a:txBody>
                  <a:tcPr marL="83840" marR="83840" marT="41920" marB="41920" anchor="ctr"/>
                </a:tc>
                <a:tc>
                  <a:txBody>
                    <a:bodyPr/>
                    <a:lstStyle/>
                    <a:p>
                      <a:r>
                        <a:rPr lang="ru-RU" sz="1700" dirty="0">
                          <a:effectLst/>
                        </a:rPr>
                        <a:t>Достижения, уровни, рейтинги продавцов</a:t>
                      </a:r>
                    </a:p>
                  </a:txBody>
                  <a:tcPr marL="83840" marR="83840" marT="41920" marB="41920" anchor="ctr"/>
                </a:tc>
                <a:extLst>
                  <a:ext uri="{0D108BD9-81ED-4DB2-BD59-A6C34878D82A}">
                    <a16:rowId xmlns:a16="http://schemas.microsoft.com/office/drawing/2014/main" val="2064396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928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9C27177-60CE-407F-AD9B-7E11A3FFD13C}"/>
              </a:ext>
            </a:extLst>
          </p:cNvPr>
          <p:cNvSpPr txBox="1"/>
          <p:nvPr/>
        </p:nvSpPr>
        <p:spPr>
          <a:xfrm>
            <a:off x="8242570" y="5824263"/>
            <a:ext cx="38326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Вы можете связаться со мной: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7F8FC"/>
                </a:solidFill>
                <a:effectLst/>
                <a:latin typeface="system-ui"/>
              </a:rPr>
              <a:t>Email</a:t>
            </a: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: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7F8FC"/>
                </a:solidFill>
                <a:effectLst/>
                <a:latin typeface="system-ui"/>
              </a:rPr>
              <a:t>vic_007.90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@</a:t>
            </a:r>
            <a:r>
              <a:rPr lang="en-US" b="0" i="0" dirty="0">
                <a:solidFill>
                  <a:srgbClr val="F7F8FC"/>
                </a:solidFill>
                <a:effectLst/>
                <a:latin typeface="system-ui"/>
              </a:rPr>
              <a:t>mail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.</a:t>
            </a:r>
            <a:r>
              <a:rPr lang="en-US" b="0" i="0" dirty="0" err="1">
                <a:solidFill>
                  <a:srgbClr val="F7F8FC"/>
                </a:solidFill>
                <a:effectLst/>
                <a:latin typeface="system-ui"/>
              </a:rPr>
              <a:t>ru</a:t>
            </a:r>
            <a:endParaRPr lang="ru-RU" b="0" i="0" dirty="0">
              <a:solidFill>
                <a:srgbClr val="F7F8FC"/>
              </a:solidFill>
              <a:effectLst/>
              <a:latin typeface="system-ui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F7F8FC"/>
                </a:solidFill>
                <a:effectLst/>
                <a:latin typeface="system-ui"/>
              </a:rPr>
              <a:t>GitHub</a:t>
            </a: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: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7F8FC"/>
                </a:solidFill>
                <a:effectLst/>
                <a:latin typeface="system-ui"/>
              </a:rPr>
              <a:t>github.com/VIK00790</a:t>
            </a:r>
            <a:endParaRPr lang="ru-RU" b="0" i="0" dirty="0">
              <a:solidFill>
                <a:srgbClr val="F7F8FC"/>
              </a:solidFill>
              <a:effectLst/>
              <a:latin typeface="system-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A9EE9-D6DB-4372-9D42-F74BC3BF5CAA}"/>
              </a:ext>
            </a:extLst>
          </p:cNvPr>
          <p:cNvSpPr txBox="1"/>
          <p:nvPr/>
        </p:nvSpPr>
        <p:spPr>
          <a:xfrm>
            <a:off x="1118681" y="3075057"/>
            <a:ext cx="9954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ru-RU" dirty="0"/>
              <a:t>Большое спасибо за ваше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3938581282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578</TotalTime>
  <Words>1117</Words>
  <Application>Microsoft Office PowerPoint</Application>
  <PresentationFormat>Широкоэкранный</PresentationFormat>
  <Paragraphs>171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Consolas</vt:lpstr>
      <vt:lpstr>system-ui</vt:lpstr>
      <vt:lpstr>След самолета</vt:lpstr>
      <vt:lpstr>Nexus Skins World</vt:lpstr>
      <vt:lpstr>Представлю итоговый проект —  веб-платформу, которая объединяет геймеров, предлагающих бесплатные и платные скины для популярных игр.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Skins World</dc:title>
  <dc:creator>Виктор Валяхметов</dc:creator>
  <cp:lastModifiedBy>Виктор Валяхметов</cp:lastModifiedBy>
  <cp:revision>35</cp:revision>
  <dcterms:created xsi:type="dcterms:W3CDTF">2026-07-06T08:37:16Z</dcterms:created>
  <dcterms:modified xsi:type="dcterms:W3CDTF">2026-07-08T17:22:07Z</dcterms:modified>
</cp:coreProperties>
</file>